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mfortaa" pitchFamily="2" charset="0"/>
      <p:bold r:id="rId13"/>
    </p:embeddedFont>
    <p:embeddedFont>
      <p:font typeface="Raleway" pitchFamily="2" charset="0"/>
      <p:bold r:id="rId14"/>
      <p:boldItalic r:id="rId15"/>
    </p:embeddedFont>
    <p:embeddedFont>
      <p:font typeface="Raleway Medium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GfTjG5cQWOga/nbTSHCrZbsa0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font" Target="fonts/font6.fntdata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font" Target="fonts/font5.fntdata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font" Target="fonts/font4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font" Target="fonts/font3.fntdata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font" Target="fonts/font7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Relationship Id="rId22" Type="http://customschemas.google.com/relationships/presentationmetadata" Target="meta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1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 /><Relationship Id="rId3" Type="http://schemas.openxmlformats.org/officeDocument/2006/relationships/image" Target="../media/image5.png" /><Relationship Id="rId7" Type="http://schemas.openxmlformats.org/officeDocument/2006/relationships/image" Target="../media/image9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8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1.png" /><Relationship Id="rId4" Type="http://schemas.openxmlformats.org/officeDocument/2006/relationships/image" Target="../media/image20.pn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720012" y="1091009"/>
            <a:ext cx="6179784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550"/>
              <a:buFont typeface="Comfortaa"/>
              <a:buNone/>
            </a:pPr>
            <a:r>
              <a:rPr lang="en-US" sz="355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Threat Intelligence Correlation &amp; Alert Prioritisation Assistant</a:t>
            </a:r>
            <a:endParaRPr sz="3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20012" y="3114080"/>
            <a:ext cx="6179784" cy="121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Raleway Medium"/>
              <a:buNone/>
            </a:pPr>
            <a:r>
              <a:rPr lang="en-US" sz="1600" b="0" i="1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From raw alerts to actionable intelligence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80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Raleway Medium"/>
              <a:buNone/>
            </a:pPr>
            <a:r>
              <a:rPr lang="en-US" sz="16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Presented by: Sejal Lathigara, Snehal Mishra, Raj Joshi, Mahek Trambadia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20012" y="4564459"/>
            <a:ext cx="1227702" cy="312638"/>
          </a:xfrm>
          <a:prstGeom prst="roundRect">
            <a:avLst>
              <a:gd name="adj" fmla="val 49999"/>
            </a:avLst>
          </a:prstGeom>
          <a:solidFill>
            <a:srgbClr val="4D4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43437" y="4626173"/>
            <a:ext cx="1590437" cy="18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50"/>
              <a:buFont typeface="Raleway Medium"/>
              <a:buNone/>
            </a:pPr>
            <a:r>
              <a:rPr lang="en-US" sz="12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CHALLENGE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20012" y="5108476"/>
            <a:ext cx="6179784" cy="65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Raleway Medium"/>
              <a:buNone/>
            </a:pPr>
            <a:r>
              <a:rPr lang="en-US" sz="16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Correlate multi-source alerts, identify real threats, map activity to MITRE ATT&amp;CK, and generate concise BLUF summaries.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720012" y="603746"/>
            <a:ext cx="6179784" cy="1053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300"/>
              <a:buFont typeface="Comfortaa"/>
              <a:buNone/>
            </a:pPr>
            <a:r>
              <a:rPr lang="en-US" sz="330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Security Teams Face Alert Overload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20012" y="1919684"/>
            <a:ext cx="3002483" cy="1622326"/>
          </a:xfrm>
          <a:prstGeom prst="roundRect">
            <a:avLst>
              <a:gd name="adj" fmla="val 17536"/>
            </a:avLst>
          </a:pr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909615" y="2109291"/>
            <a:ext cx="2623278" cy="263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lang="en-US" sz="16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Volume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09615" y="2477591"/>
            <a:ext cx="2623278" cy="8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lang="en-US" sz="14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SIEM, EDR, IDS, firewall, WAF, proxy, and threat feeds generate too many alerts.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897314" y="1919684"/>
            <a:ext cx="3002483" cy="1622326"/>
          </a:xfrm>
          <a:prstGeom prst="roundRect">
            <a:avLst>
              <a:gd name="adj" fmla="val 17536"/>
            </a:avLst>
          </a:pr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086917" y="2109291"/>
            <a:ext cx="2623278" cy="263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lang="en-US" sz="16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Noise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086917" y="2477591"/>
            <a:ext cx="2623278" cy="58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lang="en-US" sz="14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Duplicates and related events hide real attacks.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20012" y="3716834"/>
            <a:ext cx="6179784" cy="1330722"/>
          </a:xfrm>
          <a:prstGeom prst="roundRect">
            <a:avLst>
              <a:gd name="adj" fmla="val 21379"/>
            </a:avLst>
          </a:pr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909615" y="3906441"/>
            <a:ext cx="5800580" cy="263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lang="en-US" sz="16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Manual Effort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909615" y="4274741"/>
            <a:ext cx="5800580" cy="58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lang="en-US" sz="14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Analysts spend too much time triaging logs instead of assessing threats.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20012" y="5244207"/>
            <a:ext cx="6179784" cy="1010047"/>
          </a:xfrm>
          <a:prstGeom prst="roundRect">
            <a:avLst>
              <a:gd name="adj" fmla="val 28166"/>
            </a:avLst>
          </a:prstGeom>
          <a:solidFill>
            <a:srgbClr val="806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9615" y="5490865"/>
            <a:ext cx="237028" cy="189607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336245" y="5466358"/>
            <a:ext cx="5373950" cy="58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Raleway"/>
              <a:buNone/>
            </a:pPr>
            <a:r>
              <a:rPr lang="en-US" sz="1450" b="1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Core Problem:</a:t>
            </a:r>
            <a:r>
              <a:rPr lang="en-US" sz="1450" b="0" i="0" u="none" strike="noStrike" cap="non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Turn scattered alerts into correlated incidents, prioritized threats, and actionable intelligence.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720012" y="574080"/>
            <a:ext cx="10751670" cy="517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250"/>
              <a:buFont typeface="Comfortaa"/>
              <a:buNone/>
            </a:pPr>
            <a:r>
              <a:rPr lang="en-US" sz="325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Proposed Solution: Correlation Engine</a:t>
            </a:r>
            <a:endParaRPr sz="3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20012" y="1429941"/>
            <a:ext cx="11361255" cy="28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lang="en-US" sz="14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End-to-end alert prioritisation — from raw ingestion to commander-ready intelligence.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012" y="1904206"/>
            <a:ext cx="3583890" cy="74572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906440" y="2818904"/>
            <a:ext cx="3211035" cy="25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Comfortaa"/>
              <a:buNone/>
            </a:pPr>
            <a:r>
              <a:rPr lang="en-US" sz="16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Ingest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906440" y="3179167"/>
            <a:ext cx="3211035" cy="28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lang="en-US" sz="14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Upload CSV alerts.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3902" y="1904206"/>
            <a:ext cx="3583890" cy="74572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4490330" y="2818904"/>
            <a:ext cx="3211035" cy="25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Comfortaa"/>
              <a:buNone/>
            </a:pPr>
            <a:r>
              <a:rPr lang="en-US" sz="16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Correlate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490330" y="3179167"/>
            <a:ext cx="3211035" cy="28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lang="en-US" sz="14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Group by IP, host, time, behavior.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87793" y="1904206"/>
            <a:ext cx="3583890" cy="74572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8074220" y="2818904"/>
            <a:ext cx="3211035" cy="25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Comfortaa"/>
              <a:buNone/>
            </a:pPr>
            <a:r>
              <a:rPr lang="en-US" sz="16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Prioritize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074220" y="3179167"/>
            <a:ext cx="3211035" cy="28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lang="en-US" sz="14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Score risk and rank by severity.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0012" y="3649861"/>
            <a:ext cx="3583890" cy="74572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906440" y="4564559"/>
            <a:ext cx="3211035" cy="25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Comfortaa"/>
              <a:buNone/>
            </a:pPr>
            <a:r>
              <a:rPr lang="en-US" sz="16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Map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06440" y="4924822"/>
            <a:ext cx="3211035" cy="28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lang="en-US" sz="14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Link to MITRE ATT&amp;CK.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03902" y="3649861"/>
            <a:ext cx="3583890" cy="74572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4490330" y="4564559"/>
            <a:ext cx="3211035" cy="25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Comfortaa"/>
              <a:buNone/>
            </a:pPr>
            <a:r>
              <a:rPr lang="en-US" sz="16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Summarize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490330" y="4924822"/>
            <a:ext cx="3211035" cy="28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lang="en-US" sz="14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Generate a BLUF brief.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20012" y="5585520"/>
            <a:ext cx="10751670" cy="698302"/>
          </a:xfrm>
          <a:prstGeom prst="roundRect">
            <a:avLst>
              <a:gd name="adj" fmla="val 40050"/>
            </a:avLst>
          </a:prstGeom>
          <a:solidFill>
            <a:srgbClr val="806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6440" y="5828308"/>
            <a:ext cx="233059" cy="18643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1325926" y="5801023"/>
            <a:ext cx="10568914" cy="28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Raleway"/>
              <a:buNone/>
            </a:pPr>
            <a:r>
              <a:rPr lang="en-US" sz="1450" b="1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Goal:</a:t>
            </a:r>
            <a:r>
              <a:rPr lang="en-US" sz="1450" b="0" i="0" u="none" strike="noStrike" cap="non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Less noise, sharper focus, faster response.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1040575" y="6441675"/>
            <a:ext cx="1151100" cy="416400"/>
          </a:xfrm>
          <a:prstGeom prst="rect">
            <a:avLst/>
          </a:prstGeom>
          <a:solidFill>
            <a:srgbClr val="27272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1040575" y="6441675"/>
            <a:ext cx="1151100" cy="416400"/>
          </a:xfrm>
          <a:prstGeom prst="rect">
            <a:avLst/>
          </a:prstGeom>
          <a:solidFill>
            <a:srgbClr val="27272B"/>
          </a:solidFill>
          <a:ln w="9525" cap="flat" cmpd="sng">
            <a:solidFill>
              <a:srgbClr val="2727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750"/>
              <a:buFont typeface="Comfortaa"/>
              <a:buNone/>
            </a:pPr>
            <a:r>
              <a:rPr lang="en-US" sz="175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System Architecture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012" y="986433"/>
            <a:ext cx="5470388" cy="5470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6447569" y="3268464"/>
            <a:ext cx="503036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850"/>
              <a:buFont typeface="Comfortaa"/>
              <a:buNone/>
            </a:pPr>
            <a:r>
              <a:rPr lang="en-US" sz="85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Input Sources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47569" y="3462734"/>
            <a:ext cx="5030364" cy="54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162560" marR="0" lvl="0" indent="-1625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Raleway Medium"/>
              <a:buChar char="•"/>
            </a:pPr>
            <a:r>
              <a:rPr lang="en-US" sz="8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SIEM / EDR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2560" marR="0" lvl="0" indent="-1625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Raleway Medium"/>
              <a:buChar char="•"/>
            </a:pPr>
            <a:r>
              <a:rPr lang="en-US" sz="8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IDS / Firewall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2560" marR="0" lvl="0" indent="-1625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Raleway Medium"/>
              <a:buChar char="•"/>
            </a:pPr>
            <a:r>
              <a:rPr lang="en-US" sz="8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WAF / Proxy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2560" marR="0" lvl="0" indent="-1625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Raleway Medium"/>
              <a:buChar char="•"/>
            </a:pPr>
            <a:r>
              <a:rPr lang="en-US" sz="8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Threat feeds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447569" y="4056559"/>
            <a:ext cx="5639949" cy="12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Raleway Medium"/>
              <a:buNone/>
            </a:pPr>
            <a:r>
              <a:rPr lang="en-US" sz="8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Raw alerts become prioritized intelligence for analysts and commanders.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1040575" y="6425539"/>
            <a:ext cx="1151100" cy="416400"/>
          </a:xfrm>
          <a:prstGeom prst="rect">
            <a:avLst/>
          </a:prstGeom>
          <a:solidFill>
            <a:srgbClr val="27272B"/>
          </a:solidFill>
          <a:ln w="9525" cap="flat" cmpd="sng">
            <a:solidFill>
              <a:srgbClr val="2727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>
            <a:off x="720012" y="582712"/>
            <a:ext cx="10751670" cy="44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2800"/>
              <a:buFont typeface="Comfortaa"/>
              <a:buNone/>
            </a:pPr>
            <a:r>
              <a:rPr lang="en-US" sz="280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Alert Correlation Engine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012" y="1805087"/>
            <a:ext cx="6851280" cy="388243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7969745" y="1343025"/>
            <a:ext cx="3508188" cy="22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400"/>
              <a:buFont typeface="Comfortaa"/>
              <a:buNone/>
            </a:pPr>
            <a:r>
              <a:rPr lang="en-US" sz="140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How Related Alerts Are Detected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69745" y="1707455"/>
            <a:ext cx="3508188" cy="937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8225723" y="1887240"/>
            <a:ext cx="3072430" cy="22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Comfortaa"/>
              <a:buNone/>
            </a:pPr>
            <a:r>
              <a:rPr lang="en-US" sz="14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Shared Indicators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225723" y="2235994"/>
            <a:ext cx="3072430" cy="228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50"/>
              <a:buFont typeface="Raleway Medium"/>
              <a:buNone/>
            </a:pPr>
            <a:r>
              <a:rPr lang="en-US" sz="12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IP, host, user, timestamp.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69745" y="2770287"/>
            <a:ext cx="3508188" cy="116631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8225723" y="2950071"/>
            <a:ext cx="3072430" cy="22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Comfortaa"/>
              <a:buNone/>
            </a:pPr>
            <a:r>
              <a:rPr lang="en-US" sz="14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Behavior Match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225723" y="3298825"/>
            <a:ext cx="3072430" cy="457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50"/>
              <a:buFont typeface="Raleway Medium"/>
              <a:buNone/>
            </a:pPr>
            <a:r>
              <a:rPr lang="en-US" sz="12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Same tactic, similar malware, shared infrastructure.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69745" y="4062115"/>
            <a:ext cx="3508188" cy="9373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8225723" y="4241899"/>
            <a:ext cx="3072430" cy="22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Comfortaa"/>
              <a:buNone/>
            </a:pPr>
            <a:r>
              <a:rPr lang="en-US" sz="14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Time Correlation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225723" y="4590653"/>
            <a:ext cx="3072430" cy="228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50"/>
              <a:buFont typeface="Raleway Medium"/>
              <a:buNone/>
            </a:pPr>
            <a:r>
              <a:rPr lang="en-US" sz="12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Events in the same attack window.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969745" y="5140623"/>
            <a:ext cx="3508188" cy="993378"/>
          </a:xfrm>
          <a:prstGeom prst="roundRect">
            <a:avLst>
              <a:gd name="adj" fmla="val 24270"/>
            </a:avLst>
          </a:prstGeom>
          <a:solidFill>
            <a:srgbClr val="806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30476" y="5337076"/>
            <a:ext cx="200913" cy="16073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8492119" y="5293816"/>
            <a:ext cx="2825084" cy="68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Raleway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Example:</a:t>
            </a:r>
            <a:r>
              <a:rPr lang="en-US" sz="1250" b="0" i="0" u="none" strike="noStrike" cap="non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Port scan → C2 → malware → credential dump → ransomware = </a:t>
            </a:r>
            <a:r>
              <a:rPr lang="en-US" sz="1250" b="1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one incident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1040575" y="6454973"/>
            <a:ext cx="1151100" cy="416400"/>
          </a:xfrm>
          <a:prstGeom prst="rect">
            <a:avLst/>
          </a:prstGeom>
          <a:solidFill>
            <a:srgbClr val="27272B"/>
          </a:solidFill>
          <a:ln w="9525" cap="flat" cmpd="sng">
            <a:solidFill>
              <a:srgbClr val="2727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720012" y="588665"/>
            <a:ext cx="10751670" cy="553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450"/>
              <a:buFont typeface="Comfortaa"/>
              <a:buNone/>
            </a:pPr>
            <a:r>
              <a:rPr lang="en-US" sz="345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Risk Scoring &amp; Prioritisation</a:t>
            </a:r>
            <a:endParaRPr sz="3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720012" y="1625005"/>
            <a:ext cx="5132755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700"/>
              <a:buFont typeface="Comfortaa"/>
              <a:buNone/>
            </a:pPr>
            <a:r>
              <a:rPr lang="en-US" sz="170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INC-001 — Risk Score: 85 — HIGH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720012" y="2119015"/>
            <a:ext cx="2469791" cy="1182291"/>
          </a:xfrm>
          <a:prstGeom prst="roundRect">
            <a:avLst>
              <a:gd name="adj" fmla="val 25286"/>
            </a:avLst>
          </a:pr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919239" y="2318246"/>
            <a:ext cx="2071338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00"/>
              <a:buFont typeface="Comfortaa"/>
              <a:buNone/>
            </a:pPr>
            <a:r>
              <a:rPr lang="en-US" sz="17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+40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919239" y="2788146"/>
            <a:ext cx="2071338" cy="31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None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High severity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382878" y="2119015"/>
            <a:ext cx="2469890" cy="1182291"/>
          </a:xfrm>
          <a:prstGeom prst="roundRect">
            <a:avLst>
              <a:gd name="adj" fmla="val 25286"/>
            </a:avLst>
          </a:pr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582104" y="2318246"/>
            <a:ext cx="2071437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00"/>
              <a:buFont typeface="Comfortaa"/>
              <a:buNone/>
            </a:pPr>
            <a:r>
              <a:rPr lang="en-US" sz="17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+10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582104" y="2788146"/>
            <a:ext cx="2071437" cy="31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None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 related alerts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20012" y="3494385"/>
            <a:ext cx="2469791" cy="1182291"/>
          </a:xfrm>
          <a:prstGeom prst="roundRect">
            <a:avLst>
              <a:gd name="adj" fmla="val 25286"/>
            </a:avLst>
          </a:pr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919239" y="3693616"/>
            <a:ext cx="2071338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00"/>
              <a:buFont typeface="Comfortaa"/>
              <a:buNone/>
            </a:pPr>
            <a:r>
              <a:rPr lang="en-US" sz="17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+20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919239" y="4163516"/>
            <a:ext cx="2071338" cy="31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None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Ransomware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382878" y="3494385"/>
            <a:ext cx="2469890" cy="1182291"/>
          </a:xfrm>
          <a:prstGeom prst="roundRect">
            <a:avLst>
              <a:gd name="adj" fmla="val 25286"/>
            </a:avLst>
          </a:pr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582104" y="3693616"/>
            <a:ext cx="2071437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00"/>
              <a:buFont typeface="Comfortaa"/>
              <a:buNone/>
            </a:pPr>
            <a:r>
              <a:rPr lang="en-US" sz="17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+15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582104" y="4163516"/>
            <a:ext cx="2071437" cy="31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None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C2 traffic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20012" y="4869755"/>
            <a:ext cx="2469791" cy="1182291"/>
          </a:xfrm>
          <a:prstGeom prst="roundRect">
            <a:avLst>
              <a:gd name="adj" fmla="val 25286"/>
            </a:avLst>
          </a:pr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19239" y="5068987"/>
            <a:ext cx="2071338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00"/>
              <a:buFont typeface="Comfortaa"/>
              <a:buNone/>
            </a:pPr>
            <a:r>
              <a:rPr lang="en-US" sz="17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+10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19239" y="5538887"/>
            <a:ext cx="2071338" cy="31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None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Network scanning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382878" y="4869755"/>
            <a:ext cx="2469890" cy="1182291"/>
          </a:xfrm>
          <a:prstGeom prst="roundRect">
            <a:avLst>
              <a:gd name="adj" fmla="val 25286"/>
            </a:avLst>
          </a:pr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582104" y="5068987"/>
            <a:ext cx="2071437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00"/>
              <a:buFont typeface="Comfortaa"/>
              <a:buNone/>
            </a:pPr>
            <a:r>
              <a:rPr lang="en-US" sz="17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+5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582104" y="5538887"/>
            <a:ext cx="2071437" cy="31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None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Multiple sources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345277" y="1625005"/>
            <a:ext cx="5132755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700"/>
              <a:buFont typeface="Comfortaa"/>
              <a:buNone/>
            </a:pPr>
            <a:r>
              <a:rPr lang="en-US" sz="170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Scoring Factors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345277" y="2094905"/>
            <a:ext cx="5132755" cy="2602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314960" marR="0" lvl="0" indent="-3149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Char char="•"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Severity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4960" marR="0" lvl="0" indent="-3149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Char char="•"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Related alerts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4960" marR="0" lvl="0" indent="-3149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Char char="•"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Malware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4960" marR="0" lvl="0" indent="-3149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Char char="•"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C2 communication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4960" marR="0" lvl="0" indent="-3149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Char char="•"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Scanning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4960" marR="0" lvl="0" indent="-3149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Char char="•"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Credential theft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4960" marR="0" lvl="0" indent="-3149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 Medium"/>
              <a:buChar char="•"/>
            </a:pPr>
            <a:r>
              <a:rPr lang="en-US" sz="15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Detection sources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345277" y="4914999"/>
            <a:ext cx="5132755" cy="761008"/>
          </a:xfrm>
          <a:prstGeom prst="roundRect">
            <a:avLst>
              <a:gd name="adj" fmla="val 39285"/>
            </a:avLst>
          </a:prstGeom>
          <a:solidFill>
            <a:srgbClr val="806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" name="Google Shape;132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4503" y="5205809"/>
            <a:ext cx="249132" cy="19923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6992862" y="5138539"/>
            <a:ext cx="4895529" cy="31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Raleway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Result:</a:t>
            </a:r>
            <a:r>
              <a:rPr lang="en-US" sz="1550" b="0" i="0" u="none" strike="noStrike" cap="non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Critical threats surface first.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1040575" y="6441675"/>
            <a:ext cx="1151100" cy="416400"/>
          </a:xfrm>
          <a:prstGeom prst="rect">
            <a:avLst/>
          </a:prstGeom>
          <a:solidFill>
            <a:srgbClr val="27272B"/>
          </a:solidFill>
          <a:ln w="9525" cap="flat" cmpd="sng">
            <a:solidFill>
              <a:srgbClr val="2727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720012" y="566738"/>
            <a:ext cx="6179784" cy="464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2900"/>
              <a:buFont typeface="Comfortaa"/>
              <a:buNone/>
            </a:pPr>
            <a:r>
              <a:rPr lang="en-US" sz="290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MITRE ATT&amp;CK Mapping</a:t>
            </a:r>
            <a:endParaRPr sz="2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20012" y="1234777"/>
            <a:ext cx="6179784" cy="484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00"/>
              <a:buFont typeface="Raleway Medium"/>
              <a:buNone/>
            </a:pPr>
            <a:r>
              <a:rPr lang="en-US" sz="13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Behavior is mapped to standard adversary techniques for clearer investigation and threat hunting.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12" y="1872357"/>
            <a:ext cx="6179784" cy="100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1543408" y="2058491"/>
            <a:ext cx="5170259" cy="23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Comfortaa"/>
              <a:buNone/>
            </a:pPr>
            <a:r>
              <a:rPr lang="en-US" sz="14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T1071 — App Layer Protocol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543408" y="2372122"/>
            <a:ext cx="5170259" cy="2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00"/>
              <a:buFont typeface="Raleway"/>
              <a:buNone/>
            </a:pPr>
            <a:r>
              <a:rPr lang="en-US" sz="1300" b="1" i="0" u="none" strike="noStrike" cap="non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Command and Control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12" y="3010991"/>
            <a:ext cx="6179784" cy="100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1543408" y="3197126"/>
            <a:ext cx="5170259" cy="23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Comfortaa"/>
              <a:buNone/>
            </a:pPr>
            <a:r>
              <a:rPr lang="en-US" sz="14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T1046 — Network Discovery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543408" y="3510756"/>
            <a:ext cx="5170259" cy="2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00"/>
              <a:buFont typeface="Raleway"/>
              <a:buNone/>
            </a:pPr>
            <a:r>
              <a:rPr lang="en-US" sz="1300" b="1" i="0" u="none" strike="noStrike" cap="non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Discovery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12" y="4149626"/>
            <a:ext cx="6179784" cy="100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1543408" y="4335760"/>
            <a:ext cx="5170259" cy="23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Comfortaa"/>
              <a:buNone/>
            </a:pPr>
            <a:r>
              <a:rPr lang="en-US" sz="14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T1486 — Data Encrypted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543408" y="4649391"/>
            <a:ext cx="5170259" cy="2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00"/>
              <a:buFont typeface="Raleway"/>
              <a:buNone/>
            </a:pPr>
            <a:r>
              <a:rPr lang="en-US" sz="1300" b="1" i="0" u="none" strike="noStrike" cap="non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Impact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12" y="5288260"/>
            <a:ext cx="6179784" cy="100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1543408" y="5474395"/>
            <a:ext cx="5170259" cy="23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Comfortaa"/>
              <a:buNone/>
            </a:pPr>
            <a:r>
              <a:rPr lang="en-US" sz="14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T1595 — Active Scanning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543408" y="5788025"/>
            <a:ext cx="5170259" cy="2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00"/>
              <a:buFont typeface="Raleway"/>
              <a:buNone/>
            </a:pPr>
            <a:r>
              <a:rPr lang="en-US" sz="1300" b="1" i="0" u="none" strike="noStrike" cap="non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Reconnaissance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720012" y="580330"/>
            <a:ext cx="10751670" cy="34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2150"/>
              <a:buFont typeface="Comfortaa"/>
              <a:buNone/>
            </a:pPr>
            <a:r>
              <a:rPr lang="en-US" sz="215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BLUF Intelligence Generation</a:t>
            </a:r>
            <a:endParaRPr sz="2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012" y="1129109"/>
            <a:ext cx="6881541" cy="389959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7913688" y="2795984"/>
            <a:ext cx="3564245" cy="17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050"/>
              <a:buFont typeface="Comfortaa"/>
              <a:buNone/>
            </a:pPr>
            <a:r>
              <a:rPr lang="en-US" sz="105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Bottom Line Up Front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913688" y="3046512"/>
            <a:ext cx="3564245" cy="3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50"/>
              <a:buFont typeface="Raleway Medium"/>
              <a:buNone/>
            </a:pPr>
            <a:r>
              <a:rPr lang="en-US" sz="9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Turns raw alerts into a concise brief so commanders understand the threat in seconds.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313" y="5187851"/>
            <a:ext cx="2629033" cy="56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870722" y="5200551"/>
            <a:ext cx="2465623" cy="17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50"/>
              <a:buFont typeface="Comfortaa"/>
              <a:buNone/>
            </a:pPr>
            <a:r>
              <a:rPr lang="en-US" sz="10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Threat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870722" y="5420519"/>
            <a:ext cx="2465623" cy="3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50"/>
              <a:buFont typeface="Raleway Medium"/>
              <a:buNone/>
            </a:pPr>
            <a:r>
              <a:rPr lang="en-US" sz="9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Possible ransomware with C2 and reconnaissance activity.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9092" y="5187851"/>
            <a:ext cx="2629033" cy="56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3582501" y="5200551"/>
            <a:ext cx="2465623" cy="17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50"/>
              <a:buFont typeface="Comfortaa"/>
              <a:buNone/>
            </a:pPr>
            <a:r>
              <a:rPr lang="en-US" sz="10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Affected Asset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582501" y="5420519"/>
            <a:ext cx="2465623" cy="3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50"/>
              <a:buFont typeface="Raleway Medium"/>
              <a:buNone/>
            </a:pPr>
            <a:r>
              <a:rPr lang="en-US" sz="9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File server or workstation — </a:t>
            </a:r>
            <a:r>
              <a:rPr lang="en-US" sz="950" b="1" i="0" u="none" strike="noStrike" cap="non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Critical / High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30871" y="5187851"/>
            <a:ext cx="2629033" cy="56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6294280" y="5200551"/>
            <a:ext cx="2465623" cy="17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50"/>
              <a:buFont typeface="Comfortaa"/>
              <a:buNone/>
            </a:pPr>
            <a:r>
              <a:rPr lang="en-US" sz="10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Evidence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294280" y="5420519"/>
            <a:ext cx="2465623" cy="3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50"/>
              <a:buFont typeface="Raleway Medium"/>
              <a:buNone/>
            </a:pPr>
            <a:r>
              <a:rPr lang="en-US" sz="9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Port scan, C2 traffic, ransomware signature, malware activity.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42650" y="5187851"/>
            <a:ext cx="2629033" cy="56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/>
          <p:nvPr/>
        </p:nvSpPr>
        <p:spPr>
          <a:xfrm>
            <a:off x="9006059" y="5200551"/>
            <a:ext cx="2465623" cy="17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50"/>
              <a:buFont typeface="Comfortaa"/>
              <a:buNone/>
            </a:pPr>
            <a:r>
              <a:rPr lang="en-US" sz="10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MITRE Techniques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9006059" y="5420519"/>
            <a:ext cx="2465623" cy="161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50"/>
              <a:buFont typeface="Raleway Medium"/>
              <a:buNone/>
            </a:pPr>
            <a:r>
              <a:rPr lang="en-US" sz="9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T1071, T1046, T1486, T1595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313" y="5883473"/>
            <a:ext cx="10764370" cy="40679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870722" y="5896173"/>
            <a:ext cx="10600961" cy="17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50"/>
              <a:buFont typeface="Comfortaa"/>
              <a:buNone/>
            </a:pPr>
            <a:r>
              <a:rPr lang="en-US" sz="10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Recommended Action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70722" y="6116141"/>
            <a:ext cx="10600961" cy="161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50"/>
              <a:buFont typeface="Raleway Medium"/>
              <a:buNone/>
            </a:pPr>
            <a:r>
              <a:rPr lang="en-US" sz="9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Isolate host. Block infrastructure. Hunt for lateral movement and credential theft.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1040575" y="6441675"/>
            <a:ext cx="1151100" cy="416400"/>
          </a:xfrm>
          <a:prstGeom prst="rect">
            <a:avLst/>
          </a:prstGeom>
          <a:solidFill>
            <a:srgbClr val="27272B"/>
          </a:solidFill>
          <a:ln w="9525" cap="flat" cmpd="sng">
            <a:solidFill>
              <a:srgbClr val="2727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720012" y="609699"/>
            <a:ext cx="10751670" cy="49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050"/>
              <a:buFont typeface="Comfortaa"/>
              <a:buNone/>
            </a:pPr>
            <a:r>
              <a:rPr lang="en-US" sz="305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Prototype Results &amp; Dashboard</a:t>
            </a:r>
            <a:endParaRPr sz="3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720012" y="1493044"/>
            <a:ext cx="3457290" cy="58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4550"/>
              <a:buFont typeface="Comfortaa"/>
              <a:buNone/>
            </a:pPr>
            <a:r>
              <a:rPr lang="en-US" sz="45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20</a:t>
            </a:r>
            <a:endParaRPr sz="4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20012" y="2278856"/>
            <a:ext cx="3457290" cy="24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Comfortaa"/>
              <a:buNone/>
            </a:pPr>
            <a:r>
              <a:rPr lang="en-US" sz="15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Alerts Ingested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367202" y="1493044"/>
            <a:ext cx="3457290" cy="58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4550"/>
              <a:buFont typeface="Comfortaa"/>
              <a:buNone/>
            </a:pPr>
            <a:r>
              <a:rPr lang="en-US" sz="45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7</a:t>
            </a:r>
            <a:endParaRPr sz="4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367202" y="2278856"/>
            <a:ext cx="3457290" cy="24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Comfortaa"/>
              <a:buNone/>
            </a:pPr>
            <a:r>
              <a:rPr lang="en-US" sz="15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Correlated Incidents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014392" y="1493044"/>
            <a:ext cx="3457290" cy="58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4550"/>
              <a:buFont typeface="Comfortaa"/>
              <a:buNone/>
            </a:pPr>
            <a:r>
              <a:rPr lang="en-US" sz="45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 sz="4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8014392" y="2278856"/>
            <a:ext cx="3457290" cy="24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Comfortaa"/>
              <a:buNone/>
            </a:pPr>
            <a:r>
              <a:rPr lang="en-US" sz="15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Critical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2543607" y="2916634"/>
            <a:ext cx="3457290" cy="58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4550"/>
              <a:buFont typeface="Comfortaa"/>
              <a:buNone/>
            </a:pPr>
            <a:r>
              <a:rPr lang="en-US" sz="45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sz="4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2543607" y="3702447"/>
            <a:ext cx="3457290" cy="24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Comfortaa"/>
              <a:buNone/>
            </a:pPr>
            <a:r>
              <a:rPr lang="en-US" sz="15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High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190797" y="2916634"/>
            <a:ext cx="3457290" cy="58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4550"/>
              <a:buFont typeface="Comfortaa"/>
              <a:buNone/>
            </a:pPr>
            <a:r>
              <a:rPr lang="en-US" sz="455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sz="4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190797" y="3702447"/>
            <a:ext cx="3457290" cy="24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Comfortaa"/>
              <a:buNone/>
            </a:pPr>
            <a:r>
              <a:rPr lang="en-US" sz="15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Low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720012" y="4270772"/>
            <a:ext cx="5160139" cy="24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500"/>
              <a:buFont typeface="Comfortaa"/>
              <a:buNone/>
            </a:pPr>
            <a:r>
              <a:rPr lang="en-US" sz="150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INC-001 Highlights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720012" y="4668242"/>
            <a:ext cx="5160139" cy="152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274320" marR="0" lvl="0" indent="-27432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50"/>
              <a:buFont typeface="Raleway Medium"/>
              <a:buChar char="•"/>
            </a:pPr>
            <a:r>
              <a:rPr lang="en-US" sz="13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Risk score: </a:t>
            </a:r>
            <a:r>
              <a:rPr lang="en-US" sz="1350" b="1" i="0" u="none" strike="noStrike" cap="non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85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4320" marR="0" lvl="0" indent="-27432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50"/>
              <a:buFont typeface="Raleway Medium"/>
              <a:buChar char="•"/>
            </a:pPr>
            <a:r>
              <a:rPr lang="en-US" sz="13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 related alerts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4320" marR="0" lvl="0" indent="-27432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50"/>
              <a:buFont typeface="Raleway Medium"/>
              <a:buChar char="•"/>
            </a:pPr>
            <a:r>
              <a:rPr lang="en-US" sz="13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Ransomware + C2 activity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4320" marR="0" lvl="0" indent="-27432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50"/>
              <a:buFont typeface="Raleway Medium"/>
              <a:buChar char="•"/>
            </a:pPr>
            <a:r>
              <a:rPr lang="en-US" sz="13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MITRE mapping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4320" marR="0" lvl="0" indent="-27432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50"/>
              <a:buFont typeface="Raleway Medium"/>
              <a:buChar char="•"/>
            </a:pPr>
            <a:r>
              <a:rPr lang="en-US" sz="13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Intel brief generated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317894" y="4270772"/>
            <a:ext cx="5160139" cy="24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500"/>
              <a:buFont typeface="Comfortaa"/>
              <a:buNone/>
            </a:pPr>
            <a:r>
              <a:rPr lang="en-US" sz="150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UI Capabilities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317894" y="4668242"/>
            <a:ext cx="5160139" cy="121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274320" marR="0" lvl="0" indent="-27432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50"/>
              <a:buFont typeface="Raleway Medium"/>
              <a:buChar char="•"/>
            </a:pPr>
            <a:r>
              <a:rPr lang="en-US" sz="13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CSV upload and correlation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4320" marR="0" lvl="0" indent="-27432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50"/>
              <a:buFont typeface="Raleway Medium"/>
              <a:buChar char="•"/>
            </a:pPr>
            <a:r>
              <a:rPr lang="en-US" sz="13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Prioritization and filtering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4320" marR="0" lvl="0" indent="-27432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50"/>
              <a:buFont typeface="Raleway Medium"/>
              <a:buChar char="•"/>
            </a:pPr>
            <a:r>
              <a:rPr lang="en-US" sz="13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Threat vs. false-positive classification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4320" marR="0" lvl="0" indent="-27432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50"/>
              <a:buFont typeface="Raleway Medium"/>
              <a:buChar char="•"/>
            </a:pPr>
            <a:r>
              <a:rPr lang="en-US" sz="135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Incident expansion and brief generation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1040575" y="6441675"/>
            <a:ext cx="1151100" cy="416400"/>
          </a:xfrm>
          <a:prstGeom prst="rect">
            <a:avLst/>
          </a:prstGeom>
          <a:solidFill>
            <a:srgbClr val="27272B"/>
          </a:solidFill>
          <a:ln w="9525" cap="flat" cmpd="sng">
            <a:solidFill>
              <a:srgbClr val="2727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/>
          <p:nvPr/>
        </p:nvSpPr>
        <p:spPr>
          <a:xfrm>
            <a:off x="720012" y="630634"/>
            <a:ext cx="6179784" cy="50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200"/>
              <a:buFont typeface="Comfortaa"/>
              <a:buNone/>
            </a:pPr>
            <a:r>
              <a:rPr lang="en-US" sz="320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Impact &amp; Future Scope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720012" y="1384399"/>
            <a:ext cx="6179784" cy="1991519"/>
          </a:xfrm>
          <a:prstGeom prst="roundRect">
            <a:avLst>
              <a:gd name="adj" fmla="val 13801"/>
            </a:avLst>
          </a:pr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720012" y="1384399"/>
            <a:ext cx="6179784" cy="995759"/>
          </a:xfrm>
          <a:custGeom>
            <a:avLst/>
            <a:gdLst/>
            <a:ahLst/>
            <a:cxnLst/>
            <a:rect l="l" t="t" r="r" b="b"/>
            <a:pathLst>
              <a:path w="6179784" h="995759" extrusionOk="0">
                <a:moveTo>
                  <a:pt x="229041" y="0"/>
                </a:moveTo>
                <a:lnTo>
                  <a:pt x="5950744" y="0"/>
                </a:lnTo>
                <a:cubicBezTo>
                  <a:pt x="6011489" y="0"/>
                  <a:pt x="6069747" y="24132"/>
                  <a:pt x="6112700" y="67086"/>
                </a:cubicBezTo>
                <a:cubicBezTo>
                  <a:pt x="6155654" y="110040"/>
                  <a:pt x="6179785" y="168299"/>
                  <a:pt x="6179785" y="229046"/>
                </a:cubicBezTo>
                <a:lnTo>
                  <a:pt x="6179784" y="995759"/>
                </a:lnTo>
                <a:lnTo>
                  <a:pt x="0" y="995759"/>
                </a:lnTo>
                <a:lnTo>
                  <a:pt x="0" y="229046"/>
                </a:lnTo>
                <a:cubicBezTo>
                  <a:pt x="0" y="102547"/>
                  <a:pt x="102545" y="0"/>
                  <a:pt x="229041" y="0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903166" y="1567557"/>
            <a:ext cx="5813478" cy="254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Comfortaa"/>
              <a:buNone/>
            </a:pPr>
            <a:r>
              <a:rPr lang="en-US" sz="16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For Analysts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03166" y="1919883"/>
            <a:ext cx="5813478" cy="277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 Medium"/>
              <a:buNone/>
            </a:pPr>
            <a:r>
              <a:rPr lang="en-US" sz="14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Less fatigue, faster triage, better context.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720012" y="2380159"/>
            <a:ext cx="6179784" cy="995759"/>
          </a:xfrm>
          <a:custGeom>
            <a:avLst/>
            <a:gdLst/>
            <a:ahLst/>
            <a:cxnLst/>
            <a:rect l="l" t="t" r="r" b="b"/>
            <a:pathLst>
              <a:path w="6179784" h="995759" extrusionOk="0">
                <a:moveTo>
                  <a:pt x="0" y="0"/>
                </a:moveTo>
                <a:lnTo>
                  <a:pt x="6179784" y="0"/>
                </a:lnTo>
                <a:lnTo>
                  <a:pt x="6179784" y="766713"/>
                </a:lnTo>
                <a:cubicBezTo>
                  <a:pt x="6179784" y="893212"/>
                  <a:pt x="6077239" y="995759"/>
                  <a:pt x="5950743" y="995759"/>
                </a:cubicBezTo>
                <a:lnTo>
                  <a:pt x="229041" y="995759"/>
                </a:lnTo>
                <a:cubicBezTo>
                  <a:pt x="102545" y="995759"/>
                  <a:pt x="0" y="893212"/>
                  <a:pt x="0" y="766713"/>
                </a:cubicBezTo>
                <a:lnTo>
                  <a:pt x="0" y="0"/>
                </a:ln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720012" y="2380159"/>
            <a:ext cx="6179784" cy="25400"/>
          </a:xfrm>
          <a:prstGeom prst="roundRect">
            <a:avLst>
              <a:gd name="adj" fmla="val 49999"/>
            </a:avLst>
          </a:prstGeom>
          <a:solidFill>
            <a:srgbClr val="5F5F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903166" y="2563316"/>
            <a:ext cx="5813478" cy="254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Comfortaa"/>
              <a:buNone/>
            </a:pPr>
            <a:r>
              <a:rPr lang="en-US" sz="1600" b="1" i="0" u="none" strike="noStrike" cap="non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For Commanders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903166" y="2915642"/>
            <a:ext cx="5813478" cy="277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 Medium"/>
              <a:buNone/>
            </a:pPr>
            <a:r>
              <a:rPr lang="en-US" sz="14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Clearer picture, prioritized incidents, faster decisions.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20012" y="3620691"/>
            <a:ext cx="6179784" cy="254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600"/>
              <a:buFont typeface="Comfortaa"/>
              <a:buNone/>
            </a:pPr>
            <a:r>
              <a:rPr lang="en-US" sz="1600" b="1" i="0" u="none" strike="noStrike" cap="non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Future Scope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20012" y="4119959"/>
            <a:ext cx="6179784" cy="127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284480" marR="0" lvl="0" indent="-28448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 Medium"/>
              <a:buChar char="•"/>
            </a:pPr>
            <a:r>
              <a:rPr lang="en-US" sz="14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SIEM + STIX/TAXII integration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4480" marR="0" lvl="0" indent="-28448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 Medium"/>
              <a:buChar char="•"/>
            </a:pPr>
            <a:r>
              <a:rPr lang="en-US" sz="14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IOC enrichment + anomaly detection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4480" marR="0" lvl="0" indent="-28448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 Medium"/>
              <a:buChar char="•"/>
            </a:pPr>
            <a:r>
              <a:rPr lang="en-US" sz="14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SOAR-driven containment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4480" marR="0" lvl="0" indent="-28448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 Medium"/>
              <a:buChar char="•"/>
            </a:pPr>
            <a:r>
              <a:rPr lang="en-US" sz="1400" b="0" i="0" u="none" strike="noStrike" cap="non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Historical campaign correlation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994842" y="5766693"/>
            <a:ext cx="6514540" cy="277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None/>
            </a:pPr>
            <a:r>
              <a:rPr lang="en-US" sz="1400" b="1" i="0" u="none" strike="noStrike" cap="non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"From Alert Overload to Decision-Ready Intelligence."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20012" y="5583138"/>
            <a:ext cx="25399" cy="644227"/>
          </a:xfrm>
          <a:prstGeom prst="roundRect">
            <a:avLst>
              <a:gd name="adj" fmla="val 50001"/>
            </a:avLst>
          </a:prstGeom>
          <a:solidFill>
            <a:srgbClr val="FFE1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Eren Yeager</cp:lastModifiedBy>
  <cp:revision>1</cp:revision>
  <dcterms:created xsi:type="dcterms:W3CDTF">2026-09-15T16:50:47Z</dcterms:created>
  <dcterms:modified xsi:type="dcterms:W3CDTF">2026-09-15T18:10:21Z</dcterms:modified>
</cp:coreProperties>
</file>